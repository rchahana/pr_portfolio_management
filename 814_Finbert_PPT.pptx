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0" r:id="rId2"/>
    <p:sldId id="257" r:id="rId3"/>
    <p:sldId id="258" r:id="rId4"/>
    <p:sldId id="262" r:id="rId5"/>
    <p:sldId id="263" r:id="rId6"/>
    <p:sldId id="264" r:id="rId7"/>
    <p:sldId id="265" r:id="rId8"/>
    <p:sldId id="260" r:id="rId9"/>
    <p:sldId id="268" r:id="rId10"/>
    <p:sldId id="269" r:id="rId1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36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0" i="0">
                <a:solidFill>
                  <a:srgbClr val="5257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rgbClr val="5257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rgbClr val="5257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rgbClr val="5257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994734" y="8474879"/>
            <a:ext cx="18114632" cy="2185851"/>
          </a:xfrm>
          <a:prstGeom prst="rect">
            <a:avLst/>
          </a:prstGeom>
        </p:spPr>
        <p:txBody>
          <a:bodyPr lIns="45718" tIns="45718" rIns="45718" bIns="45718" anchor="b"/>
          <a:lstStyle>
            <a:lvl1pPr marL="0" indent="0" defTabSz="680625">
              <a:spcBef>
                <a:spcPts val="0"/>
              </a:spcBef>
              <a:buSzTx/>
              <a:buNone/>
              <a:defRPr sz="2721">
                <a:latin typeface="Produkt Light"/>
                <a:ea typeface="Produkt Light"/>
                <a:cs typeface="Produkt Light"/>
                <a:sym typeface="Produkt Light"/>
              </a:defRPr>
            </a:lvl1pPr>
            <a:lvl2pPr marL="687954" indent="-310992" defTabSz="680625">
              <a:spcBef>
                <a:spcPts val="0"/>
              </a:spcBef>
              <a:defRPr sz="2721">
                <a:latin typeface="Produkt Light"/>
                <a:ea typeface="Produkt Light"/>
                <a:cs typeface="Produkt Light"/>
                <a:sym typeface="Produkt Light"/>
              </a:defRPr>
            </a:lvl2pPr>
            <a:lvl3pPr marL="1064915" indent="-310992" defTabSz="680625">
              <a:spcBef>
                <a:spcPts val="0"/>
              </a:spcBef>
              <a:defRPr sz="2721">
                <a:latin typeface="Produkt Light"/>
                <a:ea typeface="Produkt Light"/>
                <a:cs typeface="Produkt Light"/>
                <a:sym typeface="Produkt Light"/>
              </a:defRPr>
            </a:lvl3pPr>
            <a:lvl4pPr marL="1441877" indent="-310992" defTabSz="680625">
              <a:spcBef>
                <a:spcPts val="0"/>
              </a:spcBef>
              <a:defRPr sz="2721">
                <a:latin typeface="Produkt Light"/>
                <a:ea typeface="Produkt Light"/>
                <a:cs typeface="Produkt Light"/>
                <a:sym typeface="Produkt Light"/>
              </a:defRPr>
            </a:lvl4pPr>
            <a:lvl5pPr marL="1818838" indent="-310992" defTabSz="680625">
              <a:spcBef>
                <a:spcPts val="0"/>
              </a:spcBef>
              <a:defRPr sz="2721">
                <a:latin typeface="Produkt Light"/>
                <a:ea typeface="Produkt Light"/>
                <a:cs typeface="Produkt Light"/>
                <a:sym typeface="Produkt Light"/>
              </a:defRPr>
            </a:lvl5pPr>
          </a:lstStyle>
          <a:p>
            <a:r>
              <a:t>Author and Date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994734" y="6063068"/>
            <a:ext cx="18114632" cy="697883"/>
          </a:xfrm>
          <a:prstGeom prst="rect">
            <a:avLst/>
          </a:prstGeom>
        </p:spPr>
        <p:txBody>
          <a:bodyPr/>
          <a:lstStyle>
            <a:lvl1pPr marL="0" indent="0" defTabSz="680625">
              <a:spcBef>
                <a:spcPts val="0"/>
              </a:spcBef>
              <a:buSzTx/>
              <a:buNone/>
              <a:defRPr sz="4535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</a:lstStyle>
          <a:p>
            <a:r>
              <a:t>Presentation Subtitle</a:t>
            </a:r>
          </a:p>
        </p:txBody>
      </p:sp>
      <p:sp>
        <p:nvSpPr>
          <p:cNvPr id="13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994734" y="4467171"/>
            <a:ext cx="18114636" cy="1522596"/>
          </a:xfrm>
          <a:prstGeom prst="rect">
            <a:avLst/>
          </a:prstGeom>
        </p:spPr>
        <p:txBody>
          <a:bodyPr anchor="b"/>
          <a:lstStyle>
            <a:lvl1pPr defTabSz="293192">
              <a:defRPr sz="9894" spc="-98"/>
            </a:lvl1pPr>
          </a:lstStyle>
          <a:p>
            <a:r>
              <a:t>Presentation Title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474953" y="10517696"/>
            <a:ext cx="4623943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542210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9887" y="521273"/>
            <a:ext cx="6916304" cy="14463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0" i="0">
                <a:solidFill>
                  <a:srgbClr val="5257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rack No.…"/>
          <p:cNvSpPr txBox="1">
            <a:spLocks noGrp="1"/>
          </p:cNvSpPr>
          <p:nvPr>
            <p:ph type="body" sz="quarter" idx="1"/>
          </p:nvPr>
        </p:nvSpPr>
        <p:spPr>
          <a:xfrm>
            <a:off x="1004953" y="6895164"/>
            <a:ext cx="18114632" cy="2513456"/>
          </a:xfrm>
          <a:prstGeom prst="rect">
            <a:avLst/>
          </a:prstGeom>
        </p:spPr>
        <p:txBody>
          <a:bodyPr wrap="square" lIns="41884" tIns="41884" rIns="41884" bIns="41884" anchor="t">
            <a:spAutoFit/>
          </a:bodyPr>
          <a:lstStyle/>
          <a:p>
            <a:pPr defTabSz="483243">
              <a:defRPr sz="3900">
                <a:latin typeface="Produkt Extralight"/>
                <a:ea typeface="Produkt Extralight"/>
                <a:cs typeface="Produkt Extralight"/>
                <a:sym typeface="Produkt Extralight"/>
              </a:defRPr>
            </a:pPr>
            <a:r>
              <a:rPr dirty="0"/>
              <a:t>Track No.</a:t>
            </a:r>
            <a:r>
              <a:rPr lang="en-US" dirty="0"/>
              <a:t> </a:t>
            </a:r>
            <a:r>
              <a:rPr lang="en-US" sz="3600" b="1" spc="-25" dirty="0">
                <a:solidFill>
                  <a:srgbClr val="52575F"/>
                </a:solidFill>
                <a:latin typeface="Calibri"/>
                <a:cs typeface="Calibri"/>
              </a:rPr>
              <a:t>Track 1-A: Artificial Intelligence &amp; Machine Learning</a:t>
            </a:r>
            <a:endParaRPr dirty="0"/>
          </a:p>
          <a:p>
            <a:pPr defTabSz="483243">
              <a:defRPr sz="3900">
                <a:latin typeface="Produkt Extralight"/>
                <a:ea typeface="Produkt Extralight"/>
                <a:cs typeface="Produkt Extralight"/>
                <a:sym typeface="Produkt Extralight"/>
              </a:defRPr>
            </a:pPr>
            <a:r>
              <a:rPr dirty="0"/>
              <a:t>Paper ID:</a:t>
            </a:r>
            <a:r>
              <a:rPr lang="en-US" dirty="0"/>
              <a:t> </a:t>
            </a:r>
            <a:r>
              <a:rPr lang="en-US" sz="3600" b="1" spc="-25" dirty="0">
                <a:solidFill>
                  <a:srgbClr val="52575F"/>
                </a:solidFill>
                <a:latin typeface="Calibri"/>
                <a:cs typeface="Calibri"/>
              </a:rPr>
              <a:t>814</a:t>
            </a:r>
            <a:endParaRPr dirty="0"/>
          </a:p>
          <a:p>
            <a:pPr marL="12700" marR="1569720">
              <a:lnSpc>
                <a:spcPct val="100499"/>
              </a:lnSpc>
              <a:spcBef>
                <a:spcPts val="95"/>
              </a:spcBef>
            </a:pPr>
            <a:r>
              <a:rPr sz="3900" dirty="0">
                <a:latin typeface="Produkt Extralight"/>
              </a:rPr>
              <a:t>Presenting Author: </a:t>
            </a:r>
            <a:r>
              <a:rPr lang="en-US" sz="4000" b="1" spc="-10" dirty="0">
                <a:solidFill>
                  <a:srgbClr val="52575F"/>
                </a:solidFill>
                <a:latin typeface="Calibri"/>
                <a:cs typeface="Calibri"/>
              </a:rPr>
              <a:t>R Chahana</a:t>
            </a:r>
            <a:endParaRPr lang="en-US" sz="4000" b="1" dirty="0">
              <a:latin typeface="Calibri"/>
              <a:cs typeface="Calibri"/>
            </a:endParaRPr>
          </a:p>
          <a:p>
            <a:pPr defTabSz="483243">
              <a:defRPr sz="3900">
                <a:latin typeface="Produkt Extralight"/>
                <a:ea typeface="Produkt Extralight"/>
                <a:cs typeface="Produkt Extralight"/>
                <a:sym typeface="Produkt Extralight"/>
              </a:defRPr>
            </a:pPr>
            <a:endParaRPr dirty="0"/>
          </a:p>
        </p:txBody>
      </p:sp>
      <p:sp>
        <p:nvSpPr>
          <p:cNvPr id="172" name="Presentation Title"/>
          <p:cNvSpPr txBox="1">
            <a:spLocks noGrp="1"/>
          </p:cNvSpPr>
          <p:nvPr>
            <p:ph type="title"/>
          </p:nvPr>
        </p:nvSpPr>
        <p:spPr>
          <a:xfrm>
            <a:off x="994733" y="4143085"/>
            <a:ext cx="18114637" cy="1846659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r>
              <a:rPr lang="en-US" sz="6000" spc="-190" dirty="0"/>
              <a:t>Sentiment Analysis in </a:t>
            </a:r>
            <a:r>
              <a:rPr lang="en-US" sz="6000" spc="-190" dirty="0" err="1"/>
              <a:t>FinBERT</a:t>
            </a:r>
            <a:r>
              <a:rPr lang="en-US" sz="6000" spc="-190" dirty="0"/>
              <a:t> for Stock Market Text Data using Global News Data</a:t>
            </a:r>
            <a:endParaRPr sz="6000" dirty="0"/>
          </a:p>
        </p:txBody>
      </p:sp>
      <p:pic>
        <p:nvPicPr>
          <p:cNvPr id="174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5388" y="9445754"/>
            <a:ext cx="2931850" cy="188476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E41B92-7F8A-CC3F-8FEA-68542D8B4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2" y="397"/>
            <a:ext cx="19974597" cy="306701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7308" y="10221344"/>
            <a:ext cx="2569412" cy="8564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633" y="9766554"/>
            <a:ext cx="1095324" cy="13112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B61F6E-A033-4766-AF74-FE1CE38EA073}"/>
              </a:ext>
            </a:extLst>
          </p:cNvPr>
          <p:cNvSpPr txBox="1"/>
          <p:nvPr/>
        </p:nvSpPr>
        <p:spPr>
          <a:xfrm>
            <a:off x="1327104" y="1831779"/>
            <a:ext cx="16977693" cy="867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+mn-lt"/>
              </a:rPr>
              <a:t>Financial markets are highly influenced by global news, investor sentiment, and geopolitical events, not just numerical indicators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+mn-lt"/>
              </a:rPr>
              <a:t>Traditional market analysis methods based on historical prices fail to capture real-time emotional and behavioral factors.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latin typeface="+mn-lt"/>
              </a:rPr>
              <a:t>Financial sentiment analysis</a:t>
            </a:r>
            <a:r>
              <a:rPr lang="en-US" sz="3600" dirty="0">
                <a:latin typeface="+mn-lt"/>
              </a:rPr>
              <a:t> has emerged as a powerful tool to understand market reactions and stock investor sentiment.</a:t>
            </a:r>
          </a:p>
          <a:p>
            <a:endParaRPr lang="en-US" sz="3600" dirty="0">
              <a:latin typeface="+mn-lt"/>
            </a:endParaRPr>
          </a:p>
          <a:p>
            <a:r>
              <a:rPr lang="en-US" sz="3600" b="1" dirty="0">
                <a:latin typeface="+mn-lt"/>
              </a:rPr>
              <a:t>Objective of this study: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+mn-lt"/>
              </a:rPr>
              <a:t>Build a cross-market sentiment analysis framework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+mn-lt"/>
              </a:rPr>
              <a:t>Use global news data (GDELT 2.0) and </a:t>
            </a:r>
            <a:r>
              <a:rPr lang="en-US" sz="3600" dirty="0" err="1">
                <a:latin typeface="+mn-lt"/>
              </a:rPr>
              <a:t>FinBERT</a:t>
            </a:r>
            <a:endParaRPr lang="en-US" sz="36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+mn-lt"/>
              </a:rPr>
              <a:t>Analyze sentiment patterns across US and Indian stock markets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+mn-lt"/>
              </a:rPr>
              <a:t>Validate performance using real-time news streams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9886" y="322138"/>
            <a:ext cx="6916304" cy="1446338"/>
          </a:xfrm>
          <a:prstGeom prst="rect">
            <a:avLst/>
          </a:prstGeom>
        </p:spPr>
        <p:txBody>
          <a:bodyPr vert="horz" wrap="square" lIns="0" tIns="5898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15" dirty="0"/>
              <a:t> </a:t>
            </a:r>
            <a:r>
              <a:rPr spc="-10" dirty="0"/>
              <a:t>Review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19003" y="10338205"/>
            <a:ext cx="2685096" cy="8555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633" y="9789131"/>
            <a:ext cx="1095324" cy="130984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ABB902-E68A-4E27-A963-008E819F5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769577"/>
              </p:ext>
            </p:extLst>
          </p:nvPr>
        </p:nvGraphicFramePr>
        <p:xfrm>
          <a:off x="756295" y="1616078"/>
          <a:ext cx="18821400" cy="807719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764280">
                  <a:extLst>
                    <a:ext uri="{9D8B030D-6E8A-4147-A177-3AD203B41FA5}">
                      <a16:colId xmlns:a16="http://schemas.microsoft.com/office/drawing/2014/main" val="2954616706"/>
                    </a:ext>
                  </a:extLst>
                </a:gridCol>
                <a:gridCol w="3764280">
                  <a:extLst>
                    <a:ext uri="{9D8B030D-6E8A-4147-A177-3AD203B41FA5}">
                      <a16:colId xmlns:a16="http://schemas.microsoft.com/office/drawing/2014/main" val="1625062792"/>
                    </a:ext>
                  </a:extLst>
                </a:gridCol>
                <a:gridCol w="3764280">
                  <a:extLst>
                    <a:ext uri="{9D8B030D-6E8A-4147-A177-3AD203B41FA5}">
                      <a16:colId xmlns:a16="http://schemas.microsoft.com/office/drawing/2014/main" val="496293101"/>
                    </a:ext>
                  </a:extLst>
                </a:gridCol>
                <a:gridCol w="3764280">
                  <a:extLst>
                    <a:ext uri="{9D8B030D-6E8A-4147-A177-3AD203B41FA5}">
                      <a16:colId xmlns:a16="http://schemas.microsoft.com/office/drawing/2014/main" val="3192641493"/>
                    </a:ext>
                  </a:extLst>
                </a:gridCol>
                <a:gridCol w="3764280">
                  <a:extLst>
                    <a:ext uri="{9D8B030D-6E8A-4147-A177-3AD203B41FA5}">
                      <a16:colId xmlns:a16="http://schemas.microsoft.com/office/drawing/2014/main" val="2514022038"/>
                    </a:ext>
                  </a:extLst>
                </a:gridCol>
              </a:tblGrid>
              <a:tr h="371805">
                <a:tc>
                  <a:txBody>
                    <a:bodyPr/>
                    <a:lstStyle/>
                    <a:p>
                      <a:r>
                        <a:rPr lang="en-IN" sz="1600" b="1"/>
                        <a:t>Author &amp; Year</a:t>
                      </a:r>
                      <a:endParaRPr lang="en-IN" sz="1600"/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Model / Method Used</a:t>
                      </a:r>
                      <a:endParaRPr lang="en-IN" sz="1600"/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Dataset / Domain</a:t>
                      </a:r>
                      <a:endParaRPr lang="en-IN" sz="1600"/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Key Contributions</a:t>
                      </a:r>
                      <a:endParaRPr lang="en-IN" sz="1600"/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Limitations</a:t>
                      </a:r>
                      <a:endParaRPr lang="en-IN" sz="1600" dirty="0"/>
                    </a:p>
                  </a:txBody>
                  <a:tcPr marL="82920" marR="82920" marT="41460" marB="41460" anchor="ctr"/>
                </a:tc>
                <a:extLst>
                  <a:ext uri="{0D108BD9-81ED-4DB2-BD59-A6C34878D82A}">
                    <a16:rowId xmlns:a16="http://schemas.microsoft.com/office/drawing/2014/main" val="3158152547"/>
                  </a:ext>
                </a:extLst>
              </a:tr>
              <a:tr h="929513">
                <a:tc>
                  <a:txBody>
                    <a:bodyPr/>
                    <a:lstStyle/>
                    <a:p>
                      <a:r>
                        <a:rPr lang="en-IN" sz="1600"/>
                        <a:t>Shen et al. (2022)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Big-data sentiment analysis using GDELT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Chinese stock market news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Constructed sentiment indices with strong predictive power for market returns and volatility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Restricted to China; no cross-market or real-time analysis</a:t>
                      </a:r>
                    </a:p>
                  </a:txBody>
                  <a:tcPr marL="82920" marR="82920" marT="41460" marB="41460" anchor="ctr"/>
                </a:tc>
                <a:extLst>
                  <a:ext uri="{0D108BD9-81ED-4DB2-BD59-A6C34878D82A}">
                    <a16:rowId xmlns:a16="http://schemas.microsoft.com/office/drawing/2014/main" val="1737596500"/>
                  </a:ext>
                </a:extLst>
              </a:tr>
              <a:tr h="595141">
                <a:tc>
                  <a:txBody>
                    <a:bodyPr/>
                    <a:lstStyle/>
                    <a:p>
                      <a:r>
                        <a:rPr lang="en-IN" sz="1600"/>
                        <a:t>Nguyen et al. (2025)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Lexicon-based sentiment index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Vietnamese economic news (CPI prediction)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Improved inflation forecasting using sentiment indicators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Rule-based, region-specific, lacks contextual understanding</a:t>
                      </a:r>
                    </a:p>
                  </a:txBody>
                  <a:tcPr marL="82920" marR="82920" marT="41460" marB="41460" anchor="ctr"/>
                </a:tc>
                <a:extLst>
                  <a:ext uri="{0D108BD9-81ED-4DB2-BD59-A6C34878D82A}">
                    <a16:rowId xmlns:a16="http://schemas.microsoft.com/office/drawing/2014/main" val="1180661096"/>
                  </a:ext>
                </a:extLst>
              </a:tr>
              <a:tr h="650659">
                <a:tc>
                  <a:txBody>
                    <a:bodyPr/>
                    <a:lstStyle/>
                    <a:p>
                      <a:r>
                        <a:rPr lang="en-IN" sz="1600"/>
                        <a:t>Jonnala et al. (2025)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Bi-LSTM + Logistic Regression (Hybrid)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Twitter data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Achieved strong precision and recall for sentiment classification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Not finance-domain specific; no cross-country analysis</a:t>
                      </a:r>
                    </a:p>
                  </a:txBody>
                  <a:tcPr marL="82920" marR="82920" marT="41460" marB="41460" anchor="ctr"/>
                </a:tc>
                <a:extLst>
                  <a:ext uri="{0D108BD9-81ED-4DB2-BD59-A6C34878D82A}">
                    <a16:rowId xmlns:a16="http://schemas.microsoft.com/office/drawing/2014/main" val="759013917"/>
                  </a:ext>
                </a:extLst>
              </a:tr>
              <a:tr h="650659">
                <a:tc>
                  <a:txBody>
                    <a:bodyPr/>
                    <a:lstStyle/>
                    <a:p>
                      <a:r>
                        <a:rPr lang="en-IN" sz="1600" dirty="0"/>
                        <a:t>Delgadillo et al. (2024)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FinSoSent</a:t>
                      </a:r>
                      <a:r>
                        <a:rPr lang="en-IN" sz="1600" dirty="0"/>
                        <a:t> (Financial LLM)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Financial news &amp; social media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Demonstrated superiority of finance-specific language models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Static dataset; no real-time or cross-market integration</a:t>
                      </a:r>
                    </a:p>
                  </a:txBody>
                  <a:tcPr marL="82920" marR="82920" marT="41460" marB="41460" anchor="ctr"/>
                </a:tc>
                <a:extLst>
                  <a:ext uri="{0D108BD9-81ED-4DB2-BD59-A6C34878D82A}">
                    <a16:rowId xmlns:a16="http://schemas.microsoft.com/office/drawing/2014/main" val="3973322032"/>
                  </a:ext>
                </a:extLst>
              </a:tr>
              <a:tr h="696608">
                <a:tc>
                  <a:txBody>
                    <a:bodyPr/>
                    <a:lstStyle/>
                    <a:p>
                      <a:r>
                        <a:rPr lang="en-IN" sz="1600"/>
                        <a:t>Leippold (2023)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Transformer-based sentiment models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Financial text (Adversarial testing)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Highlighted vulnerabilities of sentiment systems to adversarial attacks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Focused on robustness, not market-wide sentiment</a:t>
                      </a:r>
                    </a:p>
                  </a:txBody>
                  <a:tcPr marL="82920" marR="82920" marT="41460" marB="41460" anchor="ctr"/>
                </a:tc>
                <a:extLst>
                  <a:ext uri="{0D108BD9-81ED-4DB2-BD59-A6C34878D82A}">
                    <a16:rowId xmlns:a16="http://schemas.microsoft.com/office/drawing/2014/main" val="4270542867"/>
                  </a:ext>
                </a:extLst>
              </a:tr>
              <a:tr h="650659">
                <a:tc>
                  <a:txBody>
                    <a:bodyPr/>
                    <a:lstStyle/>
                    <a:p>
                      <a:r>
                        <a:rPr lang="en-IN" sz="1600"/>
                        <a:t>Davidovic &amp; McCleary (2025)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FinBERT</a:t>
                      </a:r>
                      <a:r>
                        <a:rPr lang="en-IN" sz="1600" dirty="0"/>
                        <a:t>-based sentiment learning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Equity market news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Improved stock prediction using decomposed sentiment scores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Geographically constrained; lacks global news integration</a:t>
                      </a:r>
                    </a:p>
                  </a:txBody>
                  <a:tcPr marL="82920" marR="82920" marT="41460" marB="41460" anchor="ctr"/>
                </a:tc>
                <a:extLst>
                  <a:ext uri="{0D108BD9-81ED-4DB2-BD59-A6C34878D82A}">
                    <a16:rowId xmlns:a16="http://schemas.microsoft.com/office/drawing/2014/main" val="2787454475"/>
                  </a:ext>
                </a:extLst>
              </a:tr>
              <a:tr h="650659">
                <a:tc>
                  <a:txBody>
                    <a:bodyPr/>
                    <a:lstStyle/>
                    <a:p>
                      <a:r>
                        <a:rPr lang="en-IN" sz="1600"/>
                        <a:t>Bharathi Mohan et al. (2024)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it-IT" sz="1600"/>
                        <a:t>FinBERT + DRL (PPO, DQN, A2C)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Financial news + stock data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Enhanced trading performance using sentiment-driven RL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Trading-focused; no large-scale global sentiment study</a:t>
                      </a:r>
                    </a:p>
                  </a:txBody>
                  <a:tcPr marL="82920" marR="82920" marT="41460" marB="41460" anchor="ctr"/>
                </a:tc>
                <a:extLst>
                  <a:ext uri="{0D108BD9-81ED-4DB2-BD59-A6C34878D82A}">
                    <a16:rowId xmlns:a16="http://schemas.microsoft.com/office/drawing/2014/main" val="2562278177"/>
                  </a:ext>
                </a:extLst>
              </a:tr>
              <a:tr h="650659">
                <a:tc>
                  <a:txBody>
                    <a:bodyPr/>
                    <a:lstStyle/>
                    <a:p>
                      <a:r>
                        <a:rPr lang="it-IT" sz="1600"/>
                        <a:t>Anjali Chennupati et al. (2024)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Web scraping + XGBoost + Sentiment Analysis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NSE stock data &amp; CNBC news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Combined sentiment with time-series forecasting for trading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Limited to Indian market; no cross-market sentiment</a:t>
                      </a:r>
                    </a:p>
                  </a:txBody>
                  <a:tcPr marL="82920" marR="82920" marT="41460" marB="41460" anchor="ctr"/>
                </a:tc>
                <a:extLst>
                  <a:ext uri="{0D108BD9-81ED-4DB2-BD59-A6C34878D82A}">
                    <a16:rowId xmlns:a16="http://schemas.microsoft.com/office/drawing/2014/main" val="1073205889"/>
                  </a:ext>
                </a:extLst>
              </a:tr>
              <a:tr h="650659">
                <a:tc>
                  <a:txBody>
                    <a:bodyPr/>
                    <a:lstStyle/>
                    <a:p>
                      <a:r>
                        <a:rPr lang="da-DK" sz="1600"/>
                        <a:t>Srigiri Sruthi et al. (2024)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CNN, RNN, Transformer models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Benchmark sentiment datasets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Showed transformers outperform traditional DL models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Generic datasets; not finance-focused</a:t>
                      </a:r>
                    </a:p>
                  </a:txBody>
                  <a:tcPr marL="82920" marR="82920" marT="41460" marB="41460" anchor="ctr"/>
                </a:tc>
                <a:extLst>
                  <a:ext uri="{0D108BD9-81ED-4DB2-BD59-A6C34878D82A}">
                    <a16:rowId xmlns:a16="http://schemas.microsoft.com/office/drawing/2014/main" val="3668319449"/>
                  </a:ext>
                </a:extLst>
              </a:tr>
              <a:tr h="650659">
                <a:tc>
                  <a:txBody>
                    <a:bodyPr/>
                    <a:lstStyle/>
                    <a:p>
                      <a:r>
                        <a:rPr lang="en-IN" sz="1600" dirty="0" err="1"/>
                        <a:t>Sohangir</a:t>
                      </a:r>
                      <a:r>
                        <a:rPr lang="en-IN" sz="1600" dirty="0"/>
                        <a:t> et al. (2018)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LSTM, CNN, Doc2Vec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StockTwits</a:t>
                      </a:r>
                      <a:r>
                        <a:rPr lang="en-IN" sz="1600" dirty="0"/>
                        <a:t> data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Proved effectiveness of deep learning in financial sentiment</a:t>
                      </a:r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Single platform; no global or real-time analysis</a:t>
                      </a:r>
                    </a:p>
                  </a:txBody>
                  <a:tcPr marL="82920" marR="82920" marT="41460" marB="41460" anchor="ctr"/>
                </a:tc>
                <a:extLst>
                  <a:ext uri="{0D108BD9-81ED-4DB2-BD59-A6C34878D82A}">
                    <a16:rowId xmlns:a16="http://schemas.microsoft.com/office/drawing/2014/main" val="2238378853"/>
                  </a:ext>
                </a:extLst>
              </a:tr>
              <a:tr h="929513">
                <a:tc>
                  <a:txBody>
                    <a:bodyPr/>
                    <a:lstStyle/>
                    <a:p>
                      <a:r>
                        <a:rPr lang="en-IN" sz="1600" b="1" dirty="0"/>
                        <a:t>Proposed Work (This Study)</a:t>
                      </a:r>
                      <a:endParaRPr lang="en-IN" sz="1600" dirty="0"/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FinBERT</a:t>
                      </a:r>
                      <a:r>
                        <a:rPr lang="en-US" sz="1600" b="1" dirty="0"/>
                        <a:t> with batched GPU inference</a:t>
                      </a:r>
                      <a:endParaRPr lang="en-US" sz="1600" dirty="0"/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GDELT 2.0 + NewsAPI (US &amp; India)</a:t>
                      </a:r>
                      <a:endParaRPr lang="en-US" sz="1600"/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Large-scale cross-market sentiment analysis with real-time validation and high confidence scoring</a:t>
                      </a:r>
                      <a:endParaRPr lang="en-US" sz="1600" dirty="0"/>
                    </a:p>
                  </a:txBody>
                  <a:tcPr marL="82920" marR="82920" marT="41460" marB="4146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English-only data</a:t>
                      </a:r>
                    </a:p>
                  </a:txBody>
                  <a:tcPr marL="82920" marR="82920" marT="41460" marB="41460" anchor="ctr"/>
                </a:tc>
                <a:extLst>
                  <a:ext uri="{0D108BD9-81ED-4DB2-BD59-A6C34878D82A}">
                    <a16:rowId xmlns:a16="http://schemas.microsoft.com/office/drawing/2014/main" val="23879233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4189" y="10271013"/>
            <a:ext cx="2691017" cy="85937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505" y="9811708"/>
            <a:ext cx="1092688" cy="1308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768B7D-0ABE-4C06-BFF6-031E09F3E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859" y="2575069"/>
            <a:ext cx="15188330" cy="76959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CA0F6D-773C-4743-AE4C-D15942FED3CA}"/>
              </a:ext>
            </a:extLst>
          </p:cNvPr>
          <p:cNvSpPr txBox="1"/>
          <p:nvPr/>
        </p:nvSpPr>
        <p:spPr>
          <a:xfrm>
            <a:off x="7352882" y="1639199"/>
            <a:ext cx="539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latin typeface="+mj-lt"/>
              </a:rPr>
              <a:t>Process Flow Diagram</a:t>
            </a:r>
            <a:endParaRPr lang="en-IN" sz="4000" b="1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57954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451" y="190338"/>
            <a:ext cx="6916304" cy="1446338"/>
          </a:xfrm>
          <a:prstGeom prst="rect">
            <a:avLst/>
          </a:prstGeom>
        </p:spPr>
        <p:txBody>
          <a:bodyPr vert="horz" wrap="square" lIns="0" tIns="175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Technology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505" y="9811708"/>
            <a:ext cx="1092688" cy="13084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B2D30F-84D7-4ECE-A0AD-9779B85EACF0}"/>
              </a:ext>
            </a:extLst>
          </p:cNvPr>
          <p:cNvSpPr txBox="1"/>
          <p:nvPr/>
        </p:nvSpPr>
        <p:spPr>
          <a:xfrm>
            <a:off x="1048088" y="2149475"/>
            <a:ext cx="8455189" cy="64633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3600" b="1" i="0" dirty="0">
                <a:effectLst/>
              </a:rPr>
              <a:t>What is GDELT?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</a:rPr>
              <a:t>Global Database of Events, Language, and Tone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</a:rPr>
              <a:t>Monitors 250+ million news articles daily from 100+ countries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</a:rPr>
              <a:t>Covers 65 languages globally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</a:rPr>
              <a:t>Updates every 15 minutes - near real-time data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</a:rPr>
              <a:t>Free and open-source - no API costs</a:t>
            </a:r>
            <a:endParaRPr lang="en-US" sz="3600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F1859-9002-46D3-B12A-FC4692FB39AC}"/>
              </a:ext>
            </a:extLst>
          </p:cNvPr>
          <p:cNvSpPr txBox="1"/>
          <p:nvPr/>
        </p:nvSpPr>
        <p:spPr>
          <a:xfrm>
            <a:off x="10542700" y="2530475"/>
            <a:ext cx="7738950" cy="58169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3600" b="1" dirty="0"/>
              <a:t>Why Use GDELT?</a:t>
            </a:r>
          </a:p>
          <a:p>
            <a:endParaRPr lang="en-IN" sz="2800" dirty="0">
              <a:latin typeface="+mj-lt"/>
            </a:endParaRPr>
          </a:p>
          <a:p>
            <a:endParaRPr lang="en-IN" sz="2800" dirty="0">
              <a:latin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Comprehensive global news coverage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Pre-computed sentiment metrics (tone, polarity)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Historical data available for full year 2024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Cost effective</a:t>
            </a:r>
          </a:p>
          <a:p>
            <a:endParaRPr lang="en-IN" sz="2800" dirty="0">
              <a:latin typeface="+mj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64189" y="10271013"/>
            <a:ext cx="2691017" cy="85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23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451" y="190338"/>
            <a:ext cx="6916304" cy="1446338"/>
          </a:xfrm>
          <a:prstGeom prst="rect">
            <a:avLst/>
          </a:prstGeom>
        </p:spPr>
        <p:txBody>
          <a:bodyPr vert="horz" wrap="square" lIns="0" tIns="175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Technology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505" y="9811708"/>
            <a:ext cx="1092688" cy="13084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B2D30F-84D7-4ECE-A0AD-9779B85EACF0}"/>
              </a:ext>
            </a:extLst>
          </p:cNvPr>
          <p:cNvSpPr txBox="1"/>
          <p:nvPr/>
        </p:nvSpPr>
        <p:spPr>
          <a:xfrm>
            <a:off x="9671050" y="2883848"/>
            <a:ext cx="8455189" cy="53553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3600" b="1" i="0" dirty="0">
                <a:effectLst/>
              </a:rPr>
              <a:t>Data Collection Statistics</a:t>
            </a:r>
          </a:p>
          <a:p>
            <a:endParaRPr lang="en-IN" sz="3600" b="1" i="0" dirty="0"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i="0" dirty="0">
                <a:effectLst/>
              </a:rPr>
              <a:t>Articles: </a:t>
            </a:r>
            <a:r>
              <a:rPr lang="en-US" sz="3600" b="0" i="0" dirty="0">
                <a:effectLst/>
              </a:rPr>
              <a:t>18,000-72,000 annually (1,500-6,000/month)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i="0" dirty="0">
                <a:effectLst/>
              </a:rPr>
              <a:t>Data Size: </a:t>
            </a:r>
            <a:r>
              <a:rPr lang="en-US" sz="3600" b="0" i="0" dirty="0">
                <a:effectLst/>
              </a:rPr>
              <a:t>2-7 GB per year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i="0" dirty="0">
                <a:effectLst/>
              </a:rPr>
              <a:t>Coverage: </a:t>
            </a:r>
            <a:r>
              <a:rPr lang="en-US" sz="3600" b="0" i="0" dirty="0">
                <a:effectLst/>
              </a:rPr>
              <a:t>30-120 articles per ticker per month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i="0" dirty="0">
                <a:effectLst/>
              </a:rPr>
              <a:t>System Features: </a:t>
            </a:r>
            <a:r>
              <a:rPr lang="en-US" sz="3600" b="0" i="0" dirty="0">
                <a:effectLst/>
              </a:rPr>
              <a:t>Smart caching, parallel processing, resume capability</a:t>
            </a:r>
            <a:endParaRPr lang="en-US" sz="3600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F1859-9002-46D3-B12A-FC4692FB39AC}"/>
              </a:ext>
            </a:extLst>
          </p:cNvPr>
          <p:cNvSpPr txBox="1"/>
          <p:nvPr/>
        </p:nvSpPr>
        <p:spPr>
          <a:xfrm>
            <a:off x="716330" y="2883848"/>
            <a:ext cx="8455189" cy="66171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3600" b="1" i="0" dirty="0">
                <a:effectLst/>
              </a:rPr>
              <a:t>Stock Portfolio:</a:t>
            </a:r>
          </a:p>
          <a:p>
            <a:endParaRPr lang="en-IN" sz="3600" dirty="0"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b="1" dirty="0"/>
              <a:t>100</a:t>
            </a:r>
            <a:r>
              <a:rPr lang="en-IN" sz="3600" b="1" i="0" dirty="0">
                <a:effectLst/>
              </a:rPr>
              <a:t> Companies Total</a:t>
            </a:r>
            <a:r>
              <a:rPr lang="en-IN" sz="3600" b="0" i="0" dirty="0">
                <a:effectLst/>
              </a:rPr>
              <a:t>: </a:t>
            </a:r>
          </a:p>
          <a:p>
            <a:endParaRPr lang="en-IN" sz="3600" b="0" i="0" dirty="0"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b="0" i="0" dirty="0">
                <a:effectLst/>
              </a:rPr>
              <a:t>50 US stocks (AAPL, MSFT, TSLA, GOOGL, AMZN, etc.) +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b="0" i="0" dirty="0">
                <a:effectLst/>
              </a:rPr>
              <a:t> 50 Indian stocks (TCS, RELIANCE, INFY, HDFCBANK, etc.)</a:t>
            </a:r>
            <a:endParaRPr lang="en-I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b="1" i="0" dirty="0"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b="1" i="0" dirty="0">
                <a:effectLst/>
              </a:rPr>
              <a:t>Markets Covered</a:t>
            </a:r>
            <a:r>
              <a:rPr lang="en-IN" sz="3600" b="0" i="0" dirty="0">
                <a:effectLst/>
              </a:rPr>
              <a:t>: NYSE, NASDAQ, NSE (India)</a:t>
            </a:r>
            <a:endParaRPr lang="en-IN" sz="3600" dirty="0"/>
          </a:p>
          <a:p>
            <a:endParaRPr lang="en-IN" sz="2800" dirty="0">
              <a:latin typeface="+mj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64189" y="10271013"/>
            <a:ext cx="2691017" cy="85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62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451" y="190338"/>
            <a:ext cx="6916304" cy="1446338"/>
          </a:xfrm>
          <a:prstGeom prst="rect">
            <a:avLst/>
          </a:prstGeom>
        </p:spPr>
        <p:txBody>
          <a:bodyPr vert="horz" wrap="square" lIns="0" tIns="175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Technology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505" y="9811708"/>
            <a:ext cx="1092688" cy="13084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B2D30F-84D7-4ECE-A0AD-9779B85EACF0}"/>
              </a:ext>
            </a:extLst>
          </p:cNvPr>
          <p:cNvSpPr txBox="1"/>
          <p:nvPr/>
        </p:nvSpPr>
        <p:spPr>
          <a:xfrm>
            <a:off x="11265341" y="2609856"/>
            <a:ext cx="8405547" cy="79098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3600" b="1" i="0" dirty="0">
                <a:effectLst/>
              </a:rPr>
              <a:t>Output Categories</a:t>
            </a:r>
          </a:p>
          <a:p>
            <a:endParaRPr lang="en-IN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i="0" dirty="0">
                <a:effectLst/>
              </a:rPr>
              <a:t>Positive: </a:t>
            </a:r>
            <a:r>
              <a:rPr lang="en-US" sz="3600" b="0" i="0" dirty="0">
                <a:effectLst/>
              </a:rPr>
              <a:t>Bullish signals, growth news, achievements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i="0" dirty="0">
                <a:effectLst/>
              </a:rPr>
              <a:t>Negative: </a:t>
            </a:r>
            <a:r>
              <a:rPr lang="en-US" sz="3600" b="0" i="0" dirty="0">
                <a:effectLst/>
              </a:rPr>
              <a:t>Bearish signals, losses, scandals, downgrades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i="0" dirty="0">
                <a:effectLst/>
              </a:rPr>
              <a:t>Neutral: </a:t>
            </a:r>
            <a:r>
              <a:rPr lang="en-US" sz="3600" b="0" i="0" dirty="0">
                <a:effectLst/>
              </a:rPr>
              <a:t>Factual reporting, routine announcements</a:t>
            </a:r>
          </a:p>
          <a:p>
            <a:r>
              <a:rPr lang="en-US" sz="3600" b="1" i="0" dirty="0">
                <a:effectLst/>
                <a:latin typeface="YAEnXArs1iQ_0"/>
              </a:rPr>
              <a:t>Example:</a:t>
            </a:r>
            <a:endParaRPr lang="en-US" sz="3600" dirty="0">
              <a:effectLst/>
              <a:latin typeface="YAEnXArs1iQ_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</a:rPr>
              <a:t>Article: "Apple reports record quarterly earnings"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</a:rPr>
              <a:t>Label: Positive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</a:rPr>
              <a:t>Confidence: 0.92 (high certainty)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</a:rPr>
              <a:t>Score: +0.85 (strongly positive)</a:t>
            </a:r>
            <a:endParaRPr lang="en-US" sz="3600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F1859-9002-46D3-B12A-FC4692FB39AC}"/>
              </a:ext>
            </a:extLst>
          </p:cNvPr>
          <p:cNvSpPr txBox="1"/>
          <p:nvPr/>
        </p:nvSpPr>
        <p:spPr>
          <a:xfrm>
            <a:off x="1282660" y="2420821"/>
            <a:ext cx="9478657" cy="82791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3600" b="1" i="0" dirty="0">
                <a:effectLst/>
              </a:rPr>
              <a:t>Implementation</a:t>
            </a:r>
          </a:p>
          <a:p>
            <a:endParaRPr lang="en-IN" sz="1600" b="1" i="0" dirty="0"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b="1" i="0" dirty="0">
                <a:effectLst/>
              </a:rPr>
              <a:t>Model Loading</a:t>
            </a:r>
            <a:r>
              <a:rPr lang="en-IN" sz="3200" b="0" i="0" dirty="0">
                <a:effectLst/>
              </a:rPr>
              <a:t>: </a:t>
            </a:r>
            <a:r>
              <a:rPr lang="en-IN" sz="3200" b="0" i="0" dirty="0" err="1">
                <a:effectLst/>
              </a:rPr>
              <a:t>ProsusAI</a:t>
            </a:r>
            <a:r>
              <a:rPr lang="en-IN" sz="3200" b="0" i="0" dirty="0">
                <a:effectLst/>
              </a:rPr>
              <a:t>/</a:t>
            </a:r>
            <a:r>
              <a:rPr lang="en-IN" sz="3200" b="0" i="0" dirty="0" err="1">
                <a:effectLst/>
              </a:rPr>
              <a:t>finbert</a:t>
            </a:r>
            <a:r>
              <a:rPr lang="en-IN" sz="3200" b="0" i="0" dirty="0">
                <a:effectLst/>
              </a:rPr>
              <a:t> via Hugging Face Transformers</a:t>
            </a:r>
          </a:p>
          <a:p>
            <a:endParaRPr lang="en-IN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b="1" i="0" dirty="0">
                <a:effectLst/>
              </a:rPr>
              <a:t>Device: </a:t>
            </a:r>
            <a:r>
              <a:rPr lang="en-IN" sz="3200" b="0" i="0" dirty="0">
                <a:effectLst/>
              </a:rPr>
              <a:t>CUDA (GPU) for faster processing, CPU fallback</a:t>
            </a:r>
          </a:p>
          <a:p>
            <a:endParaRPr lang="en-IN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b="1" i="0" dirty="0">
                <a:effectLst/>
              </a:rPr>
              <a:t>Input: </a:t>
            </a:r>
            <a:r>
              <a:rPr lang="en-IN" sz="3200" b="0" i="0" dirty="0">
                <a:effectLst/>
              </a:rPr>
              <a:t>News title + description (max 512 tokens)</a:t>
            </a:r>
          </a:p>
          <a:p>
            <a:endParaRPr lang="en-IN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b="1" i="0" dirty="0">
                <a:effectLst/>
              </a:rPr>
              <a:t>Processing: </a:t>
            </a:r>
            <a:r>
              <a:rPr lang="en-IN" sz="3200" b="0" i="0" dirty="0">
                <a:effectLst/>
              </a:rPr>
              <a:t>Tokenization → Truncation → Padding</a:t>
            </a:r>
          </a:p>
          <a:p>
            <a:endParaRPr lang="en-IN" sz="3200" b="0" i="0" dirty="0"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/>
              <a:t>Softmax</a:t>
            </a:r>
            <a:r>
              <a:rPr lang="en-US" sz="3200" dirty="0"/>
              <a:t> probability calculation to determine sentiment confidence</a:t>
            </a:r>
          </a:p>
          <a:p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Aggregation of sentiment scores by day and month for trend analysis</a:t>
            </a:r>
            <a:endParaRPr lang="en-IN" sz="3200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64189" y="10271013"/>
            <a:ext cx="2691017" cy="8593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876CF6-8C1D-4142-95C5-57FAD1E8FCDF}"/>
              </a:ext>
            </a:extLst>
          </p:cNvPr>
          <p:cNvSpPr txBox="1"/>
          <p:nvPr/>
        </p:nvSpPr>
        <p:spPr>
          <a:xfrm>
            <a:off x="7012504" y="983517"/>
            <a:ext cx="7631818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How </a:t>
            </a:r>
            <a:r>
              <a:rPr lang="en-US" sz="60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Finbert</a:t>
            </a:r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 was used</a:t>
            </a:r>
            <a:endParaRPr lang="en-IN" sz="6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01351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0638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4189" y="10271013"/>
            <a:ext cx="2691017" cy="85937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505" y="9696195"/>
            <a:ext cx="1092688" cy="13087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4D89E4-48CA-4445-8DB8-7CAE8BD7F0C9}"/>
              </a:ext>
            </a:extLst>
          </p:cNvPr>
          <p:cNvSpPr txBox="1"/>
          <p:nvPr/>
        </p:nvSpPr>
        <p:spPr>
          <a:xfrm>
            <a:off x="1002867" y="1967611"/>
            <a:ext cx="10804934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effectLst/>
                <a:latin typeface="+mj-lt"/>
                <a:ea typeface="Aptos"/>
                <a:cs typeface="Latha" panose="020B0604020202020204" pitchFamily="34" charset="0"/>
              </a:rPr>
              <a:t>Descriptive and diagnostic analysis of sentiment-</a:t>
            </a:r>
            <a:r>
              <a:rPr lang="en-IN" sz="3600" dirty="0" err="1">
                <a:effectLst/>
                <a:latin typeface="+mj-lt"/>
                <a:ea typeface="Aptos"/>
                <a:cs typeface="Latha" panose="020B0604020202020204" pitchFamily="34" charset="0"/>
              </a:rPr>
              <a:t>labeled</a:t>
            </a:r>
            <a:r>
              <a:rPr lang="en-IN" sz="3600" dirty="0">
                <a:effectLst/>
                <a:latin typeface="+mj-lt"/>
                <a:ea typeface="Aptos"/>
                <a:cs typeface="Latha" panose="020B0604020202020204" pitchFamily="34" charset="0"/>
              </a:rPr>
              <a:t> news articles. Computes distribution, confidence metrics, score statistics, company- and market-level sentiment averages, and temporal </a:t>
            </a:r>
            <a:r>
              <a:rPr lang="en-US" sz="3600" dirty="0">
                <a:effectLst/>
                <a:latin typeface="+mj-lt"/>
                <a:ea typeface="Aptos"/>
                <a:cs typeface="Latha" panose="020B0604020202020204" pitchFamily="34" charset="0"/>
              </a:rPr>
              <a:t>trends. Includes visualizations and quality checks to assess model performance and data reliability.</a:t>
            </a:r>
          </a:p>
          <a:p>
            <a:endParaRPr lang="en-US" sz="3600" dirty="0">
              <a:effectLst/>
              <a:latin typeface="+mj-lt"/>
              <a:ea typeface="Aptos"/>
              <a:cs typeface="Latha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+mj-lt"/>
              </a:rPr>
              <a:t>The sentiment analysis was performed on a merged GDELT news dataset containing 162,444 financial articles across 100 companies from both U.S. (106,419 articles) and Indian (56,025 articles) markets. After processing with the </a:t>
            </a:r>
            <a:r>
              <a:rPr lang="en-US" sz="3600" dirty="0" err="1">
                <a:latin typeface="+mj-lt"/>
              </a:rPr>
              <a:t>FinBERT</a:t>
            </a:r>
            <a:r>
              <a:rPr lang="en-US" sz="3600" dirty="0">
                <a:latin typeface="+mj-lt"/>
              </a:rPr>
              <a:t> model, the overall sentiment distribution showed 61.7% neutral, 20.8% positive, and 17.5% negative tones, with an average model confidence of 0.845 and an average sentiment score of 0.047.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5FE787-D682-425F-AFE3-E6D438D12958}"/>
              </a:ext>
            </a:extLst>
          </p:cNvPr>
          <p:cNvPicPr/>
          <p:nvPr/>
        </p:nvPicPr>
        <p:blipFill rotWithShape="1">
          <a:blip r:embed="rId4"/>
          <a:srcRect t="9816"/>
          <a:stretch/>
        </p:blipFill>
        <p:spPr bwMode="auto">
          <a:xfrm>
            <a:off x="11807800" y="2287143"/>
            <a:ext cx="8047406" cy="6735063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32E530-6CF6-461B-8F20-214DE82646C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865" y="631016"/>
            <a:ext cx="13509730" cy="105047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9887" y="521273"/>
            <a:ext cx="6916304" cy="1447638"/>
          </a:xfrm>
          <a:prstGeom prst="rect">
            <a:avLst/>
          </a:prstGeom>
        </p:spPr>
        <p:txBody>
          <a:bodyPr vert="horz" wrap="square" lIns="0" tIns="290638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64189" y="10271013"/>
            <a:ext cx="2691017" cy="85937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505" y="9696195"/>
            <a:ext cx="1092688" cy="1308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A2C775-6ECB-4A37-A442-766C77629E44}"/>
              </a:ext>
            </a:extLst>
          </p:cNvPr>
          <p:cNvSpPr txBox="1"/>
          <p:nvPr/>
        </p:nvSpPr>
        <p:spPr>
          <a:xfrm>
            <a:off x="969887" y="2807742"/>
            <a:ext cx="4738763" cy="65556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800" b="1" dirty="0">
                <a:effectLst/>
                <a:latin typeface="+mj-lt"/>
                <a:ea typeface="Aptos"/>
                <a:cs typeface="Latha" panose="020B0604020202020204" pitchFamily="34" charset="0"/>
              </a:rPr>
              <a:t>Real Time Live API Testing:</a:t>
            </a:r>
          </a:p>
          <a:p>
            <a:endParaRPr lang="en-US" sz="2800" dirty="0">
              <a:effectLst/>
              <a:latin typeface="+mj-lt"/>
              <a:ea typeface="Aptos"/>
              <a:cs typeface="Latha" panose="020B0604020202020204" pitchFamily="34" charset="0"/>
            </a:endParaRPr>
          </a:p>
          <a:p>
            <a:r>
              <a:rPr lang="en-US" sz="2800" dirty="0">
                <a:effectLst/>
                <a:latin typeface="+mj-lt"/>
                <a:ea typeface="Aptos"/>
                <a:cs typeface="Latha" panose="020B0604020202020204" pitchFamily="34" charset="0"/>
              </a:rPr>
              <a:t>The Live Sentiment Analysis successfully collected and analyzed the latest financial news articles for major technology companies such as Apple, Tesla, Microsoft, Google, and Amazon using the News API and </a:t>
            </a:r>
            <a:r>
              <a:rPr lang="en-US" sz="2800" dirty="0" err="1">
                <a:effectLst/>
                <a:latin typeface="+mj-lt"/>
                <a:ea typeface="Aptos"/>
                <a:cs typeface="Latha" panose="020B0604020202020204" pitchFamily="34" charset="0"/>
              </a:rPr>
              <a:t>FinBERT</a:t>
            </a:r>
            <a:r>
              <a:rPr lang="en-US" sz="2800" dirty="0">
                <a:effectLst/>
                <a:latin typeface="+mj-lt"/>
                <a:ea typeface="Aptos"/>
                <a:cs typeface="Latha" panose="020B0604020202020204" pitchFamily="34" charset="0"/>
              </a:rPr>
              <a:t> model. The system first attempted to fetch today’s news, and if unavailable, automatically retrieved articles from the past seven days.</a:t>
            </a:r>
          </a:p>
        </p:txBody>
      </p:sp>
    </p:spTree>
    <p:extLst>
      <p:ext uri="{BB962C8B-B14F-4D97-AF65-F5344CB8AC3E}">
        <p14:creationId xmlns:p14="http://schemas.microsoft.com/office/powerpoint/2010/main" val="2721720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32E530-6CF6-461B-8F20-214DE82646C5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1" t="22028" r="7086" b="12852"/>
          <a:stretch/>
        </p:blipFill>
        <p:spPr>
          <a:xfrm>
            <a:off x="2051049" y="2454275"/>
            <a:ext cx="17145001" cy="72419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9887" y="521273"/>
            <a:ext cx="6916304" cy="1447638"/>
          </a:xfrm>
          <a:prstGeom prst="rect">
            <a:avLst/>
          </a:prstGeom>
        </p:spPr>
        <p:txBody>
          <a:bodyPr vert="horz" wrap="square" lIns="0" tIns="290638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64189" y="10271013"/>
            <a:ext cx="2691017" cy="85937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505" y="9696195"/>
            <a:ext cx="1092688" cy="1308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EC03E5-D67D-4322-AB0E-C88EE4BDB71C}"/>
              </a:ext>
            </a:extLst>
          </p:cNvPr>
          <p:cNvSpPr txBox="1"/>
          <p:nvPr/>
        </p:nvSpPr>
        <p:spPr>
          <a:xfrm>
            <a:off x="6851650" y="1245092"/>
            <a:ext cx="7631818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Performance Metrics</a:t>
            </a:r>
            <a:endParaRPr lang="en-IN" sz="6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86239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957</Words>
  <Application>Microsoft Office PowerPoint</Application>
  <PresentationFormat>Custom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Produkt Extralight</vt:lpstr>
      <vt:lpstr>Produkt Light</vt:lpstr>
      <vt:lpstr>YAEnXArs1iQ_0</vt:lpstr>
      <vt:lpstr>Office Theme</vt:lpstr>
      <vt:lpstr>Sentiment Analysis in FinBERT for Stock Market Text Data using Global News Data</vt:lpstr>
      <vt:lpstr>Introduction</vt:lpstr>
      <vt:lpstr>Literature Review</vt:lpstr>
      <vt:lpstr>Technology</vt:lpstr>
      <vt:lpstr>Technology</vt:lpstr>
      <vt:lpstr>Technology</vt:lpstr>
      <vt:lpstr>Technology</vt:lpstr>
      <vt:lpstr>Results</vt:lpstr>
      <vt:lpstr>Results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in FinBERT for Stock Market Text Data using Global News Data</dc:title>
  <dc:creator>Chahana</dc:creator>
  <cp:lastModifiedBy>R.Chahana Ravikumar</cp:lastModifiedBy>
  <cp:revision>22</cp:revision>
  <dcterms:created xsi:type="dcterms:W3CDTF">2026-01-17T16:30:43Z</dcterms:created>
  <dcterms:modified xsi:type="dcterms:W3CDTF">2026-01-22T10:38:55Z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2026-01-17T00:00:00Z</vt:filetime>
  </property>
  <property fmtid="{D5CDD505-2E9C-101B-9397-08002B2CF9AE}" pid="5" name="Producer">
    <vt:lpwstr>Microsoft® PowerPoint® for Microsoft 365</vt:lpwstr>
  </property>
</Properties>
</file>